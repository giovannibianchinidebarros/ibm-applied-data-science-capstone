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4F8"/>
    <a:srgbClr val="0948CB"/>
    <a:srgbClr val="0B49CB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 varScale="1">
        <p:scale>
          <a:sx n="135" d="100"/>
          <a:sy n="135" d="100"/>
        </p:scale>
        <p:origin x="1650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giovannibianchinidebarros/IBM-Applied-Data-Science-Capston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1-Data-Collection-with-API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2-Data-Collection-with-Webscraping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3-Data-Wrangling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2-Exploratory-Data-Analysis-(EDA)/05-EDA-with-Visualization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2-Exploratory-Data-Analysis-(EDA)/04-EDA-with-SQL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3-Interactive-Visual-Analytics-and-Dashboards/06-Launch-Site-Location-Visual-Analytics-with-Folium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3-Interactive-Visual-Analytics-and-Dashboards/spacex-dash-app.py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5" y="4568734"/>
            <a:ext cx="474671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Name</a:t>
            </a:r>
            <a:r>
              <a:rPr lang="pt-BR" dirty="0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: Giovanni Barros</a:t>
            </a:r>
            <a:endParaRPr lang="en-US" dirty="0">
              <a:solidFill>
                <a:schemeClr val="bg2"/>
              </a:solidFill>
              <a:latin typeface="Abadi"/>
              <a:ea typeface="SF Pro" pitchFamily="2" charset="0"/>
              <a:cs typeface="SF Pro" pitchFamily="2" charset="0"/>
            </a:endParaRP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Date: 04 September 2026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0355E9-B896-124D-9271-34245656F131}"/>
              </a:ext>
            </a:extLst>
          </p:cNvPr>
          <p:cNvSpPr txBox="1"/>
          <p:nvPr/>
        </p:nvSpPr>
        <p:spPr>
          <a:xfrm>
            <a:off x="212985" y="6404884"/>
            <a:ext cx="6450085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  <a:hlinkClick r:id="rId4"/>
              </a:rPr>
              <a:t>https://github.com/giovannibianchinidebarros/IBM-Applied-Data-Science-Capstone</a:t>
            </a:r>
            <a:endParaRPr lang="en-US" sz="1400" dirty="0">
              <a:solidFill>
                <a:schemeClr val="bg2"/>
              </a:solidFill>
              <a:latin typeface="Abadi" panose="020B0604020104020204" pitchFamily="34" charset="0"/>
              <a:ea typeface="SF Pro" pitchFamily="2" charset="0"/>
              <a:cs typeface="SF Pr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Conclusion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Appendix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2" y="1494126"/>
            <a:ext cx="9524799" cy="4984646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Methodologies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Collected data via API and web scraping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Cleaned data and engineered features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Performed exploratory data analysis (EDA) using visualization and SQL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Built interactive visual analytics using Folium</a:t>
            </a:r>
          </a:p>
          <a:p>
            <a:pPr marL="457200" lvl="1" indent="0">
              <a:lnSpc>
                <a:spcPct val="100000"/>
              </a:lnSpc>
              <a:spcBef>
                <a:spcPts val="1400"/>
              </a:spcBef>
              <a:buNone/>
            </a:pP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Results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Identified key factors influencing successful landings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Developed classification models to predict landing success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6" y="1676914"/>
            <a:ext cx="10134606" cy="44190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Project background and context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SpaceX advertises Falcon 9 rocket launches on its website at a cost of $62 million, while other providers charge upwards of $165 million each.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SpaceX’s Falcon 9 launches like regular rockets, but much of the savings comes from the fact that SpaceX can reuse the first stage.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Therefore, if we can determine whether the first stage will land, we can estimate the cost of a launch.</a:t>
            </a:r>
          </a:p>
          <a:p>
            <a:pPr marL="457200" lvl="1" indent="0">
              <a:spcBef>
                <a:spcPts val="1400"/>
              </a:spcBef>
              <a:buNone/>
            </a:pP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Problems you want to find answers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What factors influence the successful landing of a Falcon 9 first stage?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Can we develop a machine learning model to accurately predict the landing outcome?</a:t>
            </a:r>
          </a:p>
          <a:p>
            <a:pPr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1400"/>
              </a:spcBef>
              <a:buNone/>
            </a:pPr>
            <a:r>
              <a:rPr lang="en-US" sz="8800" dirty="0">
                <a:solidFill>
                  <a:srgbClr val="0B49CB"/>
                </a:solidFill>
                <a:latin typeface="Abadi"/>
              </a:rPr>
              <a:t>Executive Summary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Data collected from the SpaceX API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Performed web scraping to collect Falcon 9 historical launch records from Wikipedia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data wrangling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Converted raw data into a cleaner and more structured format that is ready for analysis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exploratory data analysis (EDA) using visualization and SQL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interactive visual analytics using Folium and </a:t>
            </a:r>
            <a:r>
              <a:rPr lang="en-US" sz="8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Plotly</a:t>
            </a: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 Dash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predictive analysis using classification models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Build, tune and evaluate classification models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endParaRPr lang="en-US" sz="88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From the SpaceX API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Web scraping historical launch records from Wikipedia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20738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4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We start requesting rocket launch data from SpaceX API, using the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requests.get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method.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Then we decode the response content as a Json using .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json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() and turn it into a Pandas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dataframe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using .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json_normalize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()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</a:t>
            </a: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ttps://github.com/giovannibianchinidebarros/IBM-Applied-Data-Science-Capstone/blob/main/Module-1-Introduction/01-Data-Collection-with-API.ipynb</a:t>
            </a:r>
            <a:endParaRPr lang="en-US" sz="1600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SpaceX API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E7B3F4-3860-FD68-87A6-7691B5775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763" y="1914751"/>
            <a:ext cx="5730017" cy="220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22411" y="1792288"/>
            <a:ext cx="4932584" cy="4527062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an HTTP GET method to request the Falcon9 Launch HTML page.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BeautifulSoup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object from the HTML response.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Extract all column/variable names from the HTML table header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Extract all column/variable names from the HTML table header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data frame by parsing the launch HTML tables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https://github.com/giovannibianchinidebarros/IBM-Applied-Data-Science-Capstone/blob/main/Module-1-Introduction/02-Data-Collection-with-Webscraping.ipynb</a:t>
            </a:r>
            <a:endParaRPr lang="en-US" sz="14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88F7E4-89BD-BDA3-F95E-391890FBA58B}"/>
              </a:ext>
            </a:extLst>
          </p:cNvPr>
          <p:cNvSpPr txBox="1">
            <a:spLocks/>
          </p:cNvSpPr>
          <p:nvPr/>
        </p:nvSpPr>
        <p:spPr>
          <a:xfrm>
            <a:off x="767320" y="533504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3696A2-6B5C-0548-5281-025522B6C8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120" y="1710285"/>
            <a:ext cx="5500573" cy="3554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8975652" cy="4351338"/>
          </a:xfrm>
          <a:prstGeom prst="rect">
            <a:avLst/>
          </a:prstGeom>
        </p:spPr>
        <p:txBody>
          <a:bodyPr/>
          <a:lstStyle/>
          <a:p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How data were processed: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Cleanup missing values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of launches on each site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and occurrence of each orbit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and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occurence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of mission outcome of the orbits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landing outcome label from Outcome column</a:t>
            </a:r>
          </a:p>
          <a:p>
            <a:pPr lvl="1"/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https://github.com/giovannibianchinidebarros/IBM-Applied-Data-Science-Capstone/blob/main/Module-1-Introduction/03-Data-Wrangling.ipynb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Charts plotted and why: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Flight Number and Launch Site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Payload Mass and Launch Site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Bar chart to visualize the success rate for each orbit type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FlightNumber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and Orbit type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Line chart to Visualize the launch success yearly trend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https://github.com/giovannibianchinidebarros/IBM-Applied-Data-Science-Capstone/blob/main/Module-2-Exploratory-Data-Analysis-(EDA)/05-EDA-with-Visualization.ipynb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0657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SQL queries performed: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the names of the unique launch sites in the space mission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5 records where launch sites begin with the string 'CCA’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the total payload mass carried by boosters launched by NASA (CRS)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average payload mass carried by booster version F9 v1.1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date when the first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succesful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landing outcome in ground pad was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acheived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.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boosters which have success in drone ship and have payload mass greater than 4000 but less than 6000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total number of successful and failure mission outcomes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all the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booster_versions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that have carried the maximum payload mass, using a subquery with a suitable aggregate function.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records which will display the month names, failure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landing_outcomes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in drone ship ,booster versions,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launch_site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for the months in year 2015.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https://github.com/giovannibianchinidebarros/IBM-Applied-Data-Science-Capstone/blob/main/Module-2-Exploratory-Data-Analysis-(EDA)/04-EDA-with-SQL.ipynb</a:t>
            </a:r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7505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Map created and added to the folium map: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folium.Circle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mark all launch sites on a map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marker_cluster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and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folium.Marker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mark the success/failed launches for each site on the map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folium.PolyLine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draw a line from the launch site to the closest coastline, railway, highway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https://github.com/giovannibianchinidebarros/IBM-Applied-Data-Science-Capstone/blob/main/Module-3-Interactive-Visual-Analytics-and-Dashboards/06-Launch-Site-Location-Visual-Analytics-with-Folium.ipynb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Plots/graphs and interactions you have added to a dashboard: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Pie Charts to show the total launches by site.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plots to show the relationship between payload mass and launch success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https://github.com/giovannibianchinidebarros/IBM-Applied-Data-Science-Capstone/blob/main/Module-3-Interactive-Visual-Analytics-and-Dashboards/spacex-dash-app.py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how you built, evaluated, improved, and found the best performing classification model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present your model development process using key phrases and flowchart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predictive analysis lab,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64973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7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82114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6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Flight number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payload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Orbit 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7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line chart of yearly average success rate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the names of the unique launch sites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5 records where launch sites begin with `CCA`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Site Names Begin with 'CCA'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payload carried by boosters from NASA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Payload Mass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average payload mass carried by booster version F9 v1.1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Average Payload Mass by F9 v1.1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Find the dates of the first successful landing outcome on ground pad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First Successful Ground Landing Date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names of boosters which have successfully landed on drone ship and had payload mass greater than 4000 but less than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Successful Drone Ship Landing with Payload between 4000 and 6000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number of successful and failure mission outcomes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Number of Successful and Failure Mission Outcomes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 which have carried the maximum payload mass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Boosters Carried Maximum Payload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failed 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landing_outcomes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in drone ship, their booster versions, and launch site names for in year 2015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query result with a short explanation here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2015 Launch Records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Rank the count of landing outcomes (such as Failure (drone ship) or Success (ground pad)) between the date 2010-06-04 and 2017-03-20, in descending order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Rank Landing Outcomes Between 2010-06-04 and 2017-03-20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make a proper screenshot to include all launch sites’ location markers on a global map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  <a:ea typeface="+mn-lt"/>
                <a:cs typeface="+mn-lt"/>
              </a:rPr>
              <a:t>Explore the folium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map and make a proper screenshot to show the color-labeled launch outcomes on the map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spcBef>
                <a:spcPts val="1400"/>
              </a:spcBef>
            </a:pPr>
            <a:endParaRPr lang="en-US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690688"/>
            <a:ext cx="8597827" cy="431482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show the screenshot of a selected launch site to its proximities such as railway, highway, coastline, with distance calculated and displayed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launch success count for all sites, in a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4027" y="1825625"/>
            <a:ext cx="1055158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the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for the launch site with highest launch success ratio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414662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Replace &lt;Dashboard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screenshots of Payload vs. Launch Outcome scatter plot for all sites, with different payload selected in the range slider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screenshot, such as which payload range or booster version have the largest success rate, etc.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0" y="2082114"/>
            <a:ext cx="5325989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Visualize the built model accuracy for all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built classification models, in a bar chart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which model has the highest classification accuracy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57400"/>
            <a:ext cx="9477960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confusion matrix of the best performing model with an explanation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70011" y="1875054"/>
            <a:ext cx="590391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2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3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4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…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70011" y="1859522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Include any relevant assets like Python code snippets, SQL queries, charts, Notebook outputs, or data sets that you may have created during this project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600</TotalTime>
  <Words>1856</Words>
  <Application>Microsoft Office PowerPoint</Application>
  <PresentationFormat>Widescreen</PresentationFormat>
  <Paragraphs>271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Abadi</vt:lpstr>
      <vt:lpstr>Arial</vt:lpstr>
      <vt:lpstr>Calibri</vt:lpstr>
      <vt:lpstr>IBM Plex Mono SemiBold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Giovanni Barros</cp:lastModifiedBy>
  <cp:revision>214</cp:revision>
  <dcterms:created xsi:type="dcterms:W3CDTF">2021-04-29T18:58:34Z</dcterms:created>
  <dcterms:modified xsi:type="dcterms:W3CDTF">2026-09-04T22:37:57Z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